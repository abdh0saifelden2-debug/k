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with the stake: basal melt sets how fast ice can ungroundi, and a popular assumption is that turbulence cranks it up. We tested that assumption and it failed — in a useful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reaches for 'more turbulence = more mixing = more melt'. But if a conductive skin is the bottleneck, stirring the outside barely matters. Hold the blanket image; we'll now show the data agrees with the blanket, not the wind.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cleanest version of the result. We sweep the solver across closures and boundary conditions, then switch the flow off completely — pure conduction. The melt is reproduced to about one percent. If momentum transport drove melt, that couldn't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didn't just assert it — we tried the three ways turbulence could plausibly boost melt. Averaged over the bed, each one cancels: net melt is area times local flux, and the average is bounded. The popular (1+CV²) variance enhancement is actually falsified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fair to the other side: there IS a positive signal. Scalloped beds grow channels locally, plus thirty-three percent in area, and it's calibration-free — the latent-heat constant cancels. But locally positive and mean-bounded are not the same thing; the average still respects the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it's trustworthy. No-slip versus slip walls reproduce the trajectory bit-for-bit; the result isn't an artifact of one wall model or one closure. Robustness is the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something usable. We hand modellers a map: most of the grounded cavity sits in the conduction-pinned regime, with channelization mattering only in a corner. That's a drop-in closure for basal-melt parameterizations.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crisp: the falsified item (turbulent enhancement) is the point of the paper, not an embarrassment. The one open knob is the network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it: in grounded subglacial cavities, the safe modelling assumption is a conduction-set ceiling, not turbulent enhancement. Connects to NR5. Point to the public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0800"/>
          </a:xfrm>
          <a:prstGeom prst="rect">
            <a:avLst/>
          </a:prstGeom>
          <a:solidFill>
            <a:srgbClr val="6F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A boundary-condition-robust ceiling on turbulent basal melt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F6E6E"/>
                </a:solidFill>
                <a:latin typeface="Calibri"/>
              </a:rPr>
              <a:t>The story in one line</a:t>
            </a:r>
          </a:p>
          <a:p>
            <a:pPr>
              <a:spcBef>
                <a:spcPts val="600"/>
              </a:spcBef>
            </a:pPr>
            <a:r>
              <a:rPr sz="1900" b="0" i="0">
                <a:solidFill>
                  <a:srgbClr val="1E232B"/>
                </a:solidFill>
                <a:latin typeface="Calibri"/>
              </a:rPr>
              <a:t>We worry turbulence speeds up melt under grounded ice AND it sounds plausible, BUT when we test it the melt is capped by a thin conductive skin, THEREFORE turbulence does not raise the net melt — there is a ceiling.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555C66"/>
                </a:solidFill>
                <a:latin typeface="Calibri"/>
              </a:rPr>
              <a:t>Presenter: [your name] · [affiliation] · [ORCID]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code &amp; data: github.com/oss2444/K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D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Think of a wool blanket, not the wind outside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100" b="0" i="1">
                <a:solidFill>
                  <a:srgbClr val="1E232B"/>
                </a:solidFill>
                <a:latin typeface="Calibri"/>
              </a:rPr>
              <a:t>How fast heat reaches the ice is set by a thin conductive layer right at the interface —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555C66"/>
                </a:solidFill>
                <a:latin typeface="Calibri"/>
              </a:rPr>
              <a:t>like a wool blanket. You can blow on a blanket as hard as you like;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555C66"/>
                </a:solidFill>
                <a:latin typeface="Calibri"/>
              </a:rPr>
              <a:t>the blanket, not the wind, sets how fast heat gets through.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8813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F6E6E"/>
                </a:solidFill>
                <a:latin typeface="Calibri"/>
              </a:rPr>
              <a:t>If conduction is the bottleneck, stirring the outside barely moves the melt.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2 · Melt ceiling   ·   github.com/oss2444/K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D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Turning the turbulence off entirely barely changes the melt</a:t>
            </a:r>
          </a:p>
        </p:txBody>
      </p:sp>
      <p:pic>
        <p:nvPicPr>
          <p:cNvPr id="5" name="Picture 4" descr="g6_local_flux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71530"/>
            <a:ext cx="6766560" cy="26063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600200"/>
            <a:ext cx="4160520" cy="868680"/>
          </a:xfrm>
          <a:prstGeom prst="round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55064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0F6E6E"/>
                </a:solidFill>
                <a:latin typeface="Calibri"/>
              </a:rPr>
              <a:t>flow off ⇒ ~1%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pure conduction reproduces the melt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33472"/>
            <a:ext cx="4160520" cy="868680"/>
          </a:xfrm>
          <a:prstGeom prst="round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688336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0F6E6E"/>
                </a:solidFill>
                <a:latin typeface="Calibri"/>
              </a:rPr>
              <a:t>ceiling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set by the conductive sublayer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666744"/>
            <a:ext cx="4160520" cy="868680"/>
          </a:xfrm>
          <a:prstGeom prst="round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721608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0F6E6E"/>
                </a:solidFill>
                <a:latin typeface="Calibri"/>
              </a:rPr>
              <a:t>not momentum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transport doesn't enhance net melt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55C66"/>
                </a:solidFill>
                <a:latin typeface="Calibri"/>
              </a:rPr>
              <a:t>Local flux law across the swept control and all closures.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2 · Melt ceiling   ·   github.com/oss2444/K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D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Three plausible turbulent enhancement mechanisms each net to ≈ zero</a:t>
            </a:r>
          </a:p>
        </p:txBody>
      </p:sp>
      <p:pic>
        <p:nvPicPr>
          <p:cNvPr id="5" name="Picture 4" descr="34_subglacial_heatfl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126" y="1600200"/>
            <a:ext cx="2888148" cy="37490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600200"/>
            <a:ext cx="4160520" cy="868680"/>
          </a:xfrm>
          <a:prstGeom prst="round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55064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0F6E6E"/>
                </a:solidFill>
                <a:latin typeface="Calibri"/>
              </a:rPr>
              <a:t>3 mechanisms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all net to ≈ no gain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33472"/>
            <a:ext cx="4160520" cy="868680"/>
          </a:xfrm>
          <a:prstGeom prst="round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688336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0F6E6E"/>
                </a:solidFill>
                <a:latin typeface="Calibri"/>
              </a:rPr>
              <a:t>(1+CV²)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variance enhancement falsified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666744"/>
            <a:ext cx="4160520" cy="868680"/>
          </a:xfrm>
          <a:prstGeom prst="round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721608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0F6E6E"/>
                </a:solidFill>
                <a:latin typeface="Calibri"/>
              </a:rPr>
              <a:t>area × local flux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mean stays bounded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55C66"/>
                </a:solidFill>
                <a:latin typeface="Calibri"/>
              </a:rPr>
              <a:t>Subglacial heat-flux field; area-averaged enhancement ≈ 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2 · Melt ceiling   ·   github.com/oss2444/K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D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Scallops are a real LOCAL signal — but the basin mean stays under the ceiling</a:t>
            </a:r>
          </a:p>
        </p:txBody>
      </p:sp>
      <p:pic>
        <p:nvPicPr>
          <p:cNvPr id="5" name="Picture 4" descr="49_scallop_channel_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72511"/>
            <a:ext cx="6766560" cy="18044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600200"/>
            <a:ext cx="4160520" cy="868680"/>
          </a:xfrm>
          <a:prstGeom prst="round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55064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0F6E6E"/>
                </a:solidFill>
                <a:latin typeface="Calibri"/>
              </a:rPr>
              <a:t>+33% area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local channel growth (calibration-free)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33472"/>
            <a:ext cx="4160520" cy="868680"/>
          </a:xfrm>
          <a:prstGeom prst="round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688336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0F6E6E"/>
                </a:solidFill>
                <a:latin typeface="Calibri"/>
              </a:rPr>
              <a:t>ρL cancels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no free latent-heat knob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666744"/>
            <a:ext cx="4160520" cy="868680"/>
          </a:xfrm>
          <a:prstGeom prst="round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721608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0F6E6E"/>
                </a:solidFill>
                <a:latin typeface="Calibri"/>
              </a:rPr>
              <a:t>mean bounded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still under the ceiling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55C66"/>
                </a:solidFill>
                <a:latin typeface="Calibri"/>
              </a:rPr>
              <a:t>Scallop → channel feedback geometry.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2 · Melt ceiling   ·   github.com/oss2444/K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D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The ceiling survives the modelling choices a skeptic would attack — same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51760"/>
            <a:ext cx="3566160" cy="1371600"/>
          </a:xfrm>
          <a:prstGeom prst="round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0F6E6E"/>
                </a:solidFill>
                <a:latin typeface="Calibri"/>
              </a:rPr>
              <a:t>no-slip = slip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trajectories match bit-for-bit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651760"/>
            <a:ext cx="3566160" cy="1371600"/>
          </a:xfrm>
          <a:prstGeom prst="round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0F6E6E"/>
                </a:solidFill>
                <a:latin typeface="Calibri"/>
              </a:rPr>
              <a:t>across closures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not one-model luck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51760"/>
            <a:ext cx="3566160" cy="1371600"/>
          </a:xfrm>
          <a:prstGeom prst="round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0F6E6E"/>
                </a:solidFill>
                <a:latin typeface="Calibri"/>
              </a:rPr>
              <a:t>BC-robust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the ceiling 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976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555C66"/>
                </a:solidFill>
                <a:latin typeface="Calibri"/>
              </a:rPr>
              <a:t>Boundary-condition robustness (slip gate / wall-flux).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943600"/>
            <a:ext cx="201168" cy="310896"/>
          </a:xfrm>
          <a:prstGeom prst="rect">
            <a:avLst/>
          </a:prstGeom>
          <a:solidFill>
            <a:srgbClr val="1B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91616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1B7F37"/>
                </a:solidFill>
                <a:latin typeface="Calibri"/>
              </a:rPr>
              <a:t>VERIFIED  —  robust across boundary conditions and closures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2 · Melt ceiling   ·   github.com/oss2444/K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D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The deliverable is a regime map: where conduction pins melt vs where channels matter</a:t>
            </a:r>
          </a:p>
        </p:txBody>
      </p:sp>
      <p:pic>
        <p:nvPicPr>
          <p:cNvPr id="5" name="Picture 4" descr="type_iii_reg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468880"/>
            <a:ext cx="77724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555C66"/>
                </a:solidFill>
                <a:latin typeface="Calibri"/>
              </a:rPr>
              <a:t>Regime map in the effective-pressure / forcing plane.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2 · Melt ceiling   ·   github.com/oss2444/K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D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What is verified, what is falsified, what is still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3566160" cy="457200"/>
          </a:xfrm>
          <a:prstGeom prst="rect">
            <a:avLst/>
          </a:prstGeom>
          <a:solidFill>
            <a:srgbClr val="1B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3291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VERIFIED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3566160" cy="3840480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31720"/>
            <a:ext cx="32461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Conductive-sublayer ceiling (BC-robust)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Flow-off reproduces melt (~1%)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Scallop +33% local (calibration-free)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Regime-map deliverable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737360"/>
            <a:ext cx="3566160" cy="457200"/>
          </a:xfrm>
          <a:prstGeom prst="rect">
            <a:avLst/>
          </a:prstGeom>
          <a:solidFill>
            <a:srgbClr val="B3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64792"/>
            <a:ext cx="3291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FALSIFIED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2194560"/>
            <a:ext cx="3566160" cy="3840480"/>
          </a:xfrm>
          <a:prstGeom prst="rect">
            <a:avLst/>
          </a:prstGeom>
          <a:solidFill>
            <a:srgbClr val="F8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331720"/>
            <a:ext cx="32461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Momentum-transport melt enhancement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(1+CV²) variance truncation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5864" y="1737360"/>
            <a:ext cx="3566160" cy="457200"/>
          </a:xfrm>
          <a:prstGeom prst="rect">
            <a:avLst/>
          </a:prstGeom>
          <a:solidFill>
            <a:srgbClr val="B5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764792"/>
            <a:ext cx="3291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4" y="2194560"/>
            <a:ext cx="3566160" cy="3840480"/>
          </a:xfrm>
          <a:prstGeom prst="rect">
            <a:avLst/>
          </a:prstGeom>
          <a:solidFill>
            <a:srgbClr val="F9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2331720"/>
            <a:ext cx="32461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Network concentration gain g∈[0.1,0.9]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Validation at a real cavity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2 · Melt ceiling   ·   github.com/oss2444/K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DD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The takeaway: don't budget for turbulent melt enhancement — budget for the ceiling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51760"/>
            <a:ext cx="3566160" cy="1371600"/>
          </a:xfrm>
          <a:prstGeom prst="round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0F6E6E"/>
                </a:solidFill>
                <a:latin typeface="Calibri"/>
              </a:rPr>
              <a:t>ceiling, not boost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the modelling takeaway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651760"/>
            <a:ext cx="3566160" cy="1371600"/>
          </a:xfrm>
          <a:prstGeom prst="round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0F6E6E"/>
                </a:solidFill>
                <a:latin typeface="Calibri"/>
              </a:rPr>
              <a:t>conduction-set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the mechanism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51760"/>
            <a:ext cx="3566160" cy="1371600"/>
          </a:xfrm>
          <a:prstGeom prst="roundRect">
            <a:avLst/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0F6E6E"/>
                </a:solidFill>
                <a:latin typeface="Calibri"/>
              </a:rPr>
              <a:t>reproducible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github.com/oss2444/K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2 · Melt ceiling   ·   github.com/oss2444/K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