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with a paradox: a model can fit the shape of a bedform perfectly and still get the physics wrong — because it can't say which way the form moves. That 'which way' is the whole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Symmetry sounds harmless, even elegant. The point of this talk is that this particular symmetry is a defect: it forces a real, observed direction to be exactly zero. Let the clock image sit before the formal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mechanism in one line. Drive the bed with a topographic wave and read the flux response. The in-phase part grows or decays the bedform; the out-of-phase (quadrature) part moves it. Migration speed is literally the imaginary part of a complex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keystone. Because down-gradient closures are parity-symmetric, their response has no imaginary part: Im(s) = 0. That's not a small error you can tune away — it's a structural impossibility. The closure predicts a migration speed of exactly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here's the evidence: the full solver produces a non-zero imaginary part and real downstream migration on the same bed where the closure gives zero. We package it as an index I = |tan ψ|/2π. The model and the closure disagree, and the solver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is a good test: the phase observable needs no absolute calibration and no ΔT. You can read the parity break from bedform geometry and the flow alone — so it's checkable in the field, not just in a solver. Note in passing: the K² curvature and Mullins-Sekerka |k| ansätze are falsified.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plain: the falsified ansätze are competitors we ruled out; the open item is a single bounded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it: if you want one experiment to tell whether a down-gradient closure is missing the reactive physics, measure bedform migration — it must be zero in the closure and isn't in reality. Connects to Paper 1's reactive part and NR2/NR4/NR9.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0800"/>
          </a:xfrm>
          <a:prstGeom prst="rect">
            <a:avLst/>
          </a:prstGeom>
          <a:solidFill>
            <a:srgbClr val="9C8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Scallop migration is a parity break that down-gradient closures cannot 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5B2C83"/>
                </a:solidFill>
                <a:latin typeface="Calibri"/>
              </a:rPr>
              <a:t>The story in one line</a:t>
            </a:r>
          </a:p>
          <a:p>
            <a:pPr>
              <a:spcBef>
                <a:spcPts val="600"/>
              </a:spcBef>
            </a:pPr>
            <a:r>
              <a:rPr sz="1900" b="0" i="0">
                <a:solidFill>
                  <a:srgbClr val="1E232B"/>
                </a:solidFill>
                <a:latin typeface="Calibri"/>
              </a:rPr>
              <a:t>Scallops on the bed drift downstream AND we'd like our model to capture it, BUT a symmetric down-gradient model literally cannot point downstream, THEREFORE migration is a clean, measurable test the standard closure fails.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555C66"/>
                </a:solidFill>
                <a:latin typeface="Calibri"/>
              </a:rPr>
              <a:t>Presenter: [your name] · [affiliation] · [ORCID]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code &amp; data: github.com/oss2444/K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8E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Think of a clock with no difference between tick and 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100" b="0" i="1">
                <a:solidFill>
                  <a:srgbClr val="1E232B"/>
                </a:solidFill>
                <a:latin typeface="Calibri"/>
              </a:rPr>
              <a:t>A down-gradient closure is mirror-symmetric: it has no built-in sense of 'downstream'.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555C66"/>
                </a:solidFill>
                <a:latin typeface="Calibri"/>
              </a:rPr>
              <a:t>It's like a clock whose tick and tock are identical — it can't tell you which way time runs.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555C66"/>
                </a:solidFill>
                <a:latin typeface="Calibri"/>
              </a:rPr>
              <a:t>But scallops DO run one way. So the closure is missing something structural, not just tuned 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8813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5B2C83"/>
                </a:solidFill>
                <a:latin typeface="Calibri"/>
              </a:rPr>
              <a:t>A symmetric closure forces the migration speed to be exactly zero — by construction.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3 · Scallop parity break   ·   github.com/oss2444/K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8E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Migration is the out-of-phase part of the bed's response — the imaginary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555C66"/>
                </a:solidFill>
                <a:latin typeface="Calibri"/>
              </a:rPr>
              <a:t>Harmonic decomposition of the wall flux: Re(s) vs Im(s).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5B2C83"/>
                </a:solidFill>
                <a:latin typeface="Calibri"/>
              </a:rPr>
              <a:t>in-phase (Re)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grows / decays the scallop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5B2C83"/>
                </a:solidFill>
                <a:latin typeface="Calibri"/>
              </a:rPr>
              <a:t>out-of-phase (Im)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MOVES the scallop — migration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5B2C83"/>
                </a:solidFill>
                <a:latin typeface="Calibri"/>
              </a:rPr>
              <a:t>phase ψ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the single clean observable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3 · Scallop parity break   ·   github.com/oss2444/K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8E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A symmetric closure has zero imaginary part — so it cannot migrate, ever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5B2C83"/>
                </a:solidFill>
                <a:latin typeface="Calibri"/>
              </a:rPr>
              <a:t>K-theory: Im(s) = 0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no migration possible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5B2C83"/>
                </a:solidFill>
                <a:latin typeface="Calibri"/>
              </a:rPr>
              <a:t>structural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not a tuning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5B2C83"/>
                </a:solidFill>
                <a:latin typeface="Calibri"/>
              </a:rPr>
              <a:t>prediction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migration speed = 0 exactly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3 · Scallop parity break   ·   github.com/oss2444/K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8E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In the resolved solver, the scallop genuinely migrates — the parity break is measured</a:t>
            </a:r>
          </a:p>
        </p:txBody>
      </p:sp>
      <p:pic>
        <p:nvPicPr>
          <p:cNvPr id="5" name="Picture 4" descr="49_scallop_channel_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72511"/>
            <a:ext cx="6766560" cy="18044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600200"/>
            <a:ext cx="4160520" cy="86868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55064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5B2C83"/>
                </a:solidFill>
                <a:latin typeface="Calibri"/>
              </a:rPr>
              <a:t>Im(s) ≠ 0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measured in the solver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33472"/>
            <a:ext cx="4160520" cy="86868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688336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5B2C83"/>
                </a:solidFill>
                <a:latin typeface="Calibri"/>
              </a:rPr>
              <a:t>I = |tan ψ|/2π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the migration 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666744"/>
            <a:ext cx="4160520" cy="86868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21608"/>
            <a:ext cx="388620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5B2C83"/>
                </a:solidFill>
                <a:latin typeface="Calibri"/>
              </a:rPr>
              <a:t>closure = 0</a:t>
            </a:r>
          </a:p>
          <a:p>
            <a:r>
              <a:rPr sz="1200" b="0" i="0">
                <a:solidFill>
                  <a:srgbClr val="555C66"/>
                </a:solidFill>
                <a:latin typeface="Calibri"/>
              </a:rPr>
              <a:t>contradicted by the solver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55C66"/>
                </a:solidFill>
                <a:latin typeface="Calibri"/>
              </a:rPr>
              <a:t>Scallop geometry used in the harmonic probe.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43600"/>
            <a:ext cx="201168" cy="310896"/>
          </a:xfrm>
          <a:prstGeom prst="rect">
            <a:avLst/>
          </a:prstGeom>
          <a:solidFill>
            <a:srgbClr val="1B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91616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1B7F37"/>
                </a:solidFill>
                <a:latin typeface="Calibri"/>
              </a:rPr>
              <a:t>VERIFIED  —  migration measured in the resolved solver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3 · Scallop parity break   ·   github.com/oss2444/K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8E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The phase test is constant-free and needs no temperature difference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5B2C83"/>
                </a:solidFill>
                <a:latin typeface="Calibri"/>
              </a:rPr>
              <a:t>constant-free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no absolute calibration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5B2C83"/>
                </a:solidFill>
                <a:latin typeface="Calibri"/>
              </a:rPr>
              <a:t>ΔT-free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no temperature difference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5B2C83"/>
                </a:solidFill>
                <a:latin typeface="Calibri"/>
              </a:rPr>
              <a:t>field-testable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from geometry + flow alone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943600"/>
            <a:ext cx="201168" cy="310896"/>
          </a:xfrm>
          <a:prstGeom prst="rect">
            <a:avLst/>
          </a:prstGeom>
          <a:solidFill>
            <a:srgbClr val="B3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91616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B3261A"/>
                </a:solidFill>
                <a:latin typeface="Calibri"/>
              </a:rPr>
              <a:t>FALSIFIED  —  the K² curvature and Mullins–Sekerka |k| ansätze (wavelength test)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3 · Scallop parity break   ·   github.com/oss2444/K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8E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What is verified, what is falsified, what is still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3566160" cy="457200"/>
          </a:xfrm>
          <a:prstGeom prst="rect">
            <a:avLst/>
          </a:prstGeom>
          <a:solidFill>
            <a:srgbClr val="1B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3291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VERIFIED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3566160" cy="3840480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31720"/>
            <a:ext cx="3246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Migration = Im(s) parity break (solver)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Closure forced to Im(s)=0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Robust across amplitude &amp; drive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Constant-free index I=|tan ψ|/2π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737360"/>
            <a:ext cx="3566160" cy="457200"/>
          </a:xfrm>
          <a:prstGeom prst="rect">
            <a:avLst/>
          </a:prstGeom>
          <a:solidFill>
            <a:srgbClr val="B3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64792"/>
            <a:ext cx="3291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FALSIFIED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2194560"/>
            <a:ext cx="3566160" cy="3840480"/>
          </a:xfrm>
          <a:prstGeom prst="rect">
            <a:avLst/>
          </a:prstGeom>
          <a:solidFill>
            <a:srgbClr val="F8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331720"/>
            <a:ext cx="3246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K² curvature ansatz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Mullins–Sekerka |k| ansatz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5864" y="1737360"/>
            <a:ext cx="3566160" cy="457200"/>
          </a:xfrm>
          <a:prstGeom prst="rect">
            <a:avLst/>
          </a:prstGeom>
          <a:solidFill>
            <a:srgbClr val="B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764792"/>
            <a:ext cx="32918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4" y="2194560"/>
            <a:ext cx="3566160" cy="3840480"/>
          </a:xfrm>
          <a:prstGeom prst="rect">
            <a:avLst/>
          </a:prstGeom>
          <a:solidFill>
            <a:srgbClr val="F9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2331720"/>
            <a:ext cx="3246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One open gate (bounded)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1E232B"/>
                </a:solidFill>
                <a:latin typeface="Calibri"/>
              </a:rPr>
              <a:t>•  Field measurement on a real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3 · Scallop parity break   ·   github.com/oss2444/K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8E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1750"/>
          </a:xfrm>
          <a:prstGeom prst="rect">
            <a:avLst/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 i="0">
                <a:solidFill>
                  <a:srgbClr val="1E232B"/>
                </a:solidFill>
                <a:latin typeface="Calibri"/>
              </a:rPr>
              <a:t>The takeaway: migration is a clean, measurable failure of down-gradient closures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51760"/>
            <a:ext cx="3566160" cy="137160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5B2C83"/>
                </a:solidFill>
                <a:latin typeface="Calibri"/>
              </a:rPr>
              <a:t>one clean test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bedform migration / phase 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651760"/>
            <a:ext cx="3566160" cy="137160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5B2C83"/>
                </a:solidFill>
                <a:latin typeface="Calibri"/>
              </a:rPr>
              <a:t>closure must say 0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reality says otherwise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51760"/>
            <a:ext cx="3566160" cy="1371600"/>
          </a:xfrm>
          <a:prstGeom prst="roundRect">
            <a:avLst/>
          </a:prstGeom>
          <a:solidFill>
            <a:srgbClr val="F3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2761488"/>
            <a:ext cx="334670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i="0">
                <a:solidFill>
                  <a:srgbClr val="5B2C83"/>
                </a:solidFill>
                <a:latin typeface="Calibri"/>
              </a:rPr>
              <a:t>reproducible</a:t>
            </a:r>
          </a:p>
          <a:p>
            <a:pPr algn="ctr"/>
            <a:r>
              <a:rPr sz="1200" b="0" i="0">
                <a:solidFill>
                  <a:srgbClr val="555C66"/>
                </a:solidFill>
                <a:latin typeface="Calibri"/>
              </a:rPr>
              <a:t>github.com/oss2444/K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9144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 i="0">
                <a:solidFill>
                  <a:srgbClr val="555C66"/>
                </a:solidFill>
                <a:latin typeface="Calibri"/>
              </a:rPr>
              <a:t>Paper 3 · Scallop parity break   ·   github.com/oss2444/K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55C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